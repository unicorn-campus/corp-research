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85632" y="0"/>
            <a:ext cx="6144768" cy="8229600"/>
          </a:xfrm>
          <a:prstGeom prst="rect">
            <a:avLst/>
          </a:prstGeom>
          <a:solidFill>
            <a:srgbClr val="2B6CB0">
              <a:alpha val="50000"/>
            </a:srgbClr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아이씨싰케이 (ICTK)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0CA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ICTK Co., Ltd.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154680"/>
            <a:ext cx="5486400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3E5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分析 레포트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3931920"/>
            <a:ext cx="2286000" cy="347472"/>
          </a:xfrm>
          <a:prstGeom prst="roundRect">
            <a:avLst>
              <a:gd name="adj" fmla="val 26316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9319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PUF 보안반도체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3931920"/>
            <a:ext cx="2286000" cy="347472"/>
          </a:xfrm>
          <a:prstGeom prst="roundRect">
            <a:avLst>
              <a:gd name="adj" fmla="val 26316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39319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기술특레 상장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0" y="3931920"/>
            <a:ext cx="2286000" cy="347472"/>
          </a:xfrm>
          <a:prstGeom prst="roundRect">
            <a:avLst>
              <a:gd name="adj" fmla="val 26316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39319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PQC 융합 보안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7406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조사 기준일: 2026년 06월 17일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7726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B5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DART 전자공시 · 이데일리 · 지디넷코리아 · 프라임경제 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70848" y="1371600"/>
            <a:ext cx="5120640" cy="5303520"/>
          </a:xfrm>
          <a:prstGeom prst="roundRect">
            <a:avLst>
              <a:gd name="adj" fmla="val 267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53728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0CA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개요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99448" y="1965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종목코드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99448" y="2240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456010 (코스닥)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99448" y="267919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설립일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299448" y="29535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2017.10.18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99448" y="339242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대표이사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99448" y="366674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이정원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99448" y="410565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업종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99448" y="437997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반도체·전자부품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99448" y="48188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임직원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99448" y="50932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62명 (2024)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299448" y="55321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특허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99448" y="58064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150개 이상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685800"/>
          </a:xfrm>
          <a:prstGeom prst="rect">
            <a:avLst/>
          </a:prstGeom>
          <a:solidFill>
            <a:srgbClr val="2C2926"/>
          </a:solidFill>
          <a:ln w="12700">
            <a:solidFill>
              <a:srgbClr val="2C29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3152"/>
            <a:ext cx="970361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개요 · 재무 分析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87661" y="73152"/>
            <a:ext cx="415869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DART 전자공시 (개별 기준)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822960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404155"/>
          </a:solidFill>
          <a:ln w="12700">
            <a:solidFill>
              <a:srgbClr val="40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229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개요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170432"/>
          <a:ext cx="62179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5720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기업명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아이씨싰케이 (ICTK Co., Ltd.)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종목코드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456010 (코스닥)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업종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반도체 및 전자부품 (261)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대표자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이정원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설립일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2017년 10월 18일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상장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2024년 5월 코스닥 기술특레 (공모가 13,000원)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본사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서울 강남구 강남대룀84길 16 제이스타워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핵심기술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VIA PUF™ (복제불가 HW 보안키)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특허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150개 이상 국제 특허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임직원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62명 (2024) / 전년 대비 +18명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876288" y="822960"/>
            <a:ext cx="7370064" cy="292608"/>
          </a:xfrm>
          <a:prstGeom prst="roundRect">
            <a:avLst>
              <a:gd name="adj" fmla="val 15625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76288" y="822960"/>
            <a:ext cx="7370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손익·자산 추이 (억원)</a:t>
            </a:r>
            <a:endParaRPr lang="en-US" sz="13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76288" y="1170432"/>
          <a:ext cx="359359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40664"/>
                <a:gridCol w="740664"/>
                <a:gridCol w="740664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계정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2022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2023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2024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매출액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26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62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67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영업이익(손실)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╂33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╂24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╂67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순이익(손실)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╂108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╂90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╂58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자산총계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98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104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458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자본총계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╂311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94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430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0" y="1170432"/>
          <a:ext cx="35935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19556"/>
                <a:gridCol w="1019556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2024년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2023년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매출총이익률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45.04%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54.36%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영업이익률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╂100%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╂38%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부채비율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6.47%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10.68%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유동비율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2,988%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1,009%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매출증가율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+8.02%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+141%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6876288" y="6766560"/>
            <a:ext cx="7370064" cy="73152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986016" y="6803136"/>
            <a:ext cx="71506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2024년 자산·자본 급증은 코스닥 IPO 공모자금 유입 효과(추정)    ※ 매출총이익률 45%로 기술력 기반 마진 구조 확인 — 영업비용 구조 개선이 수익화 핵심 과제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685800"/>
          </a:xfrm>
          <a:prstGeom prst="rect">
            <a:avLst/>
          </a:prstGeom>
          <a:solidFill>
            <a:srgbClr val="2C2926"/>
          </a:solidFill>
          <a:ln w="12700">
            <a:solidFill>
              <a:srgbClr val="2C29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3152"/>
            <a:ext cx="970361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포지션 · 경쟁 환경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87661" y="73152"/>
            <a:ext cx="415869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웹 검색 (언론보도 종합)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822960"/>
            <a:ext cx="2926080" cy="292608"/>
          </a:xfrm>
          <a:prstGeom prst="roundRect">
            <a:avLst>
              <a:gd name="adj" fmla="val 15625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229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고객사 &amp; 레퍼런스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234440"/>
            <a:ext cx="6583680" cy="1261872"/>
          </a:xfrm>
          <a:prstGeom prst="roundRect">
            <a:avLst>
              <a:gd name="adj" fmla="val 7246"/>
            </a:avLst>
          </a:prstGeom>
          <a:solidFill>
            <a:srgbClr val="F5F5F7"/>
          </a:solidFill>
          <a:ln w="6350">
            <a:solidFill>
              <a:srgbClr val="DD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23444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2344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Microsoft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1208" y="1636776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Xbox 디바이스 액세서리 보안칩 'STR' 초도 납품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(2026.05, 4년 프로젝트 완성)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2624328"/>
            <a:ext cx="6583680" cy="1261872"/>
          </a:xfrm>
          <a:prstGeom prst="roundRect">
            <a:avLst>
              <a:gd name="adj" fmla="val 7246"/>
            </a:avLst>
          </a:prstGeom>
          <a:solidFill>
            <a:srgbClr val="F5F5F7"/>
          </a:solidFill>
          <a:ln w="6350">
            <a:solidFill>
              <a:srgbClr val="DDDD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2624328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6243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LG유플러스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" y="3026664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G5 칕·PQC PUF-eSIM 공동개발·PQC KMS·MOU 체결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(세계 최초 PQC PUF-eSIM 상용화 2025.04)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4048" y="4014216"/>
            <a:ext cx="6583680" cy="1261872"/>
          </a:xfrm>
          <a:prstGeom prst="roundRect">
            <a:avLst>
              <a:gd name="adj" fmla="val 7246"/>
            </a:avLst>
          </a:prstGeom>
          <a:solidFill>
            <a:srgbClr val="F5F5F7"/>
          </a:solidFill>
          <a:ln w="6350">
            <a:solidFill>
              <a:srgbClr val="DDDD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4014216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401421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" y="4416552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양자보안 국책과제(70억, 2026.04~2029.12)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수요기업 참여 — 산업부 선정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4048" y="5404104"/>
            <a:ext cx="658368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6350">
            <a:solidFill>
              <a:srgbClr val="447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5404104"/>
            <a:ext cx="6364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 유일 PUF 보안반도체 독립 팩리스 | WIPO 글로벌 어워드 2025·2026 2년 연속 파이널리스트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42048" y="82296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42048" y="8229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경쟁사 비교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42048" y="1170432"/>
          <a:ext cx="7004304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77568"/>
                <a:gridCol w="1877568"/>
                <a:gridCol w="1877568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아이씨싰케이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Infineon (독)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NXP (네덜란드)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핵심기술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VIA PUF™ 자체개발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OPTIGA TPM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 (Secure Element)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PUF 상용화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세계 최초 주장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일부 적용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일부 적용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PQC 통합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PUF+PQC 결합 상용화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일부 지원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일부 지원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주요고객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MS·LG유플·KT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글로벌 자동차·IoT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글로벌 NFC·결제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기업규모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국내 팩리스 독립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글로벌 대기업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글로벌 대기업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7242048" y="4224528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242048" y="42245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산업 트렌드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242048" y="4572000"/>
            <a:ext cx="7004304" cy="18288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6350">
            <a:solidFill>
              <a:srgbClr val="DDDDE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79208" y="4636008"/>
            <a:ext cx="672998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PUF+PQC 융합 보안 패러다임 전환 (SW→칩 수준)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SKT 해킹 사태 → 하드웨어 보안 수요 급증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AI·IoT 디바이스 인증 수요 확대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정보보호 공시 대상 상장사 전체 확대 예정 (666→2,700개)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글로벌 양자보안 표준 경쟁 가속화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685800"/>
          </a:xfrm>
          <a:prstGeom prst="rect">
            <a:avLst/>
          </a:prstGeom>
          <a:solidFill>
            <a:srgbClr val="2C2926"/>
          </a:solidFill>
          <a:ln w="12700">
            <a:solidFill>
              <a:srgbClr val="2C29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3152"/>
            <a:ext cx="970361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SWOT 蒍합 評價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87661" y="73152"/>
            <a:ext cx="415869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클로니 종합 · 2026-06-17 기준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804672"/>
            <a:ext cx="6816852" cy="2788920"/>
          </a:xfrm>
          <a:prstGeom prst="roundRect">
            <a:avLst>
              <a:gd name="adj" fmla="val 3279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804672"/>
            <a:ext cx="6816852" cy="384048"/>
          </a:xfrm>
          <a:prstGeom prst="roundRect">
            <a:avLst>
              <a:gd name="adj" fmla="val 2381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804672"/>
            <a:ext cx="65425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강점 (Strengths)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" y="1261872"/>
            <a:ext cx="6542532" cy="2221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 VIA PUF™ 세계 최초 상용화 + 150개 이상 국제 특허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 글로벌 빅테크(MS) 밸류체인 진입 / 통신사(LG유플·KT) 레퍼런스 확보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 IPO 후 재무 안정화: 부채비율 6.47%, 유동비율 2,988%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 국내 유일 PUF 보안반도체 독립 팩리스 — 진입장벽 높음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29500" y="804672"/>
            <a:ext cx="6816852" cy="2788920"/>
          </a:xfrm>
          <a:prstGeom prst="roundRect">
            <a:avLst>
              <a:gd name="adj" fmla="val 3279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29500" y="804672"/>
            <a:ext cx="6816852" cy="384048"/>
          </a:xfrm>
          <a:prstGeom prst="roundRect">
            <a:avLst>
              <a:gd name="adj" fmla="val 2381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6660" y="804672"/>
            <a:ext cx="65425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약점 (Weaknesses)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66660" y="1261872"/>
            <a:ext cx="6542532" cy="2221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 지속 영업손실 (2024 영업이익률 ╂100%, 누적 결손금 382억)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 매출 성장 둔화: 2023년 +141% → 2024년 +8%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 과도한 CB 발행으로 주주 희석 리스크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 소규모 팀(62명) — 글로벌 경쟁 대비 인력·자원 제약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4048" y="3758184"/>
            <a:ext cx="6816852" cy="2788920"/>
          </a:xfrm>
          <a:prstGeom prst="roundRect">
            <a:avLst>
              <a:gd name="adj" fmla="val 3279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3758184"/>
            <a:ext cx="6816852" cy="384048"/>
          </a:xfrm>
          <a:prstGeom prst="roundRect">
            <a:avLst>
              <a:gd name="adj" fmla="val 2381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758184"/>
            <a:ext cx="65425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기회 (Opportunities)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" y="4215384"/>
            <a:ext cx="6542532" cy="2221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 SKT 해킹 이후 하드웨어 보안 수요 급증 · 정책 규제 강화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 양자컴퓨터 위협 가속 → PQC+PUF 수요 폭발 전망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 MS 납품 본격화 및 통신사 커버리지 확대 가능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 정보보호 공시 대상 확대(2,700개) → 솔루션 수요 기반 확대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29500" y="3758184"/>
            <a:ext cx="6816852" cy="2788920"/>
          </a:xfrm>
          <a:prstGeom prst="roundRect">
            <a:avLst>
              <a:gd name="adj" fmla="val 3279"/>
            </a:avLst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29500" y="3758184"/>
            <a:ext cx="6816852" cy="384048"/>
          </a:xfrm>
          <a:prstGeom prst="roundRect">
            <a:avLst>
              <a:gd name="adj" fmla="val 2381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6660" y="3758184"/>
            <a:ext cx="65425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위협 (Threats)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566660" y="4215384"/>
            <a:ext cx="6542532" cy="2221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 글로벌 대기업(Infineon·NXP) 대비 규모·자원 열위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 CB 전환 지속에 따른 주가 희석 압력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 적자 지속 시 자금 조달 어려움 및 R&amp;D 투자 제약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 글로벌 양자보안 표준 경쟁 — 미국·유럽 대기업 대응 가속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84048" y="6675120"/>
            <a:ext cx="13862304" cy="512064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675120"/>
            <a:ext cx="1353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총평:  PUF 기술 독보성과 글로벌 레퍼런스는 확보했으나, 수익화 속도가 관건인 기술특레 스타트업 단계 기업.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2026-06-17T14:40:21Z</dcterms:created>
  <dcterms:modified xsi:type="dcterms:W3CDTF">2026-06-17T14:40:21Z</dcterms:modified>
</cp:coreProperties>
</file>